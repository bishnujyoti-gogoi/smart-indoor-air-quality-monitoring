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5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3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63C8-A168-E38F-CE32-5A679497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3308E-09A1-88EC-051D-0EA278C81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B203D-7F29-F5BE-6E8A-6FEF09648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1FC7D-1C78-242B-9625-2B6B1E2AC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74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E5C6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solidFill>
            <a:srgbClr val="9FE87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6338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MQ-135  •  DHT11  •  LDR MODULE  —  ESP8266 NODEMCU  →  BLYNK IOT  →  ML CLASSIFIERS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52589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INDOOR AIR QUALITY MONITORING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Embedded IoT System with Machine-Learning-Based Air Quality Classification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71931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data acquisition  →  Real-time dashboard  →  Multi-model training &amp; evaluation of Air Quality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6760" y="3197711"/>
            <a:ext cx="10698480" cy="0"/>
          </a:xfrm>
          <a:prstGeom prst="line">
            <a:avLst/>
          </a:prstGeom>
          <a:noFill/>
          <a:ln w="12700">
            <a:solidFill>
              <a:srgbClr val="20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216" y="343303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OF INSTITUTE:</a:t>
            </a:r>
          </a:p>
          <a:p>
            <a:pPr marL="0" indent="0">
              <a:buNone/>
            </a:pPr>
            <a:r>
              <a:rPr lang="en-US" sz="1500" b="1" kern="0" spc="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JORHAT INSTITUTE OF SCIENCE &amp; TECHNOLOGY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6216" y="398624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6216" y="435415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Kaustabh Jyoti Nath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6216" y="4645959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Rajnish Gogoi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6216" y="497756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Rishav Dutta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216" y="532180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Bishnujyoti Gogoi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216" y="56665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Madhurjya Mohan Nath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— Electronics &amp; Telecommunication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•  </a:t>
            </a:r>
            <a:r>
              <a:rPr lang="en-US" sz="1300" b="1" kern="0" spc="100" dirty="0">
                <a:solidFill>
                  <a:srgbClr val="0E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Sensors to a Trained Air-Quality Classifier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three-stage pipeline: embedded sensing, live IoT visualization, and offline machine-learning analysis that predicts Air Quality.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64992" cy="40233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  <a:effectLst>
            <a:outerShdw blurRad="101600" dist="381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Sensing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81635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ESP8266 NodeMCU reads MQ-135 (gas), DHT11 (temp/humidity) and an LDR module every 10 s, then classifies Air Quality and flags gas anomalies on-device.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9664" y="1965960"/>
            <a:ext cx="3364992" cy="40233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  <a:effectLst>
            <a:outerShdw blurRad="101600" dist="381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43984" y="2240280"/>
            <a:ext cx="548640" cy="548640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3984" y="3017520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Dashboard + Logging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3984" y="3657600"/>
            <a:ext cx="281635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 are streamed live to Blynk for monitoring, and appended to a Google Sheet (exported as CSV) for long-term storage.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90688" y="1965960"/>
            <a:ext cx="3364992" cy="40233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  <a:effectLst>
            <a:outerShdw blurRad="101600" dist="381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2240280"/>
            <a:ext cx="548640" cy="548640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17" name="Text 15"/>
          <p:cNvSpPr/>
          <p:nvPr/>
        </p:nvSpPr>
        <p:spPr>
          <a:xfrm>
            <a:off x="8065008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65008" y="3017520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65008" y="3657600"/>
            <a:ext cx="281635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logged CSV is loaded in Colab, cleaned &amp; scaled, then used to train four classifiers — Logistic Regression, ANN, Random Forest, KNN — to predict Air Quality (Moderate / Poor).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Air Quality Monitoring  —  IoT + Machine Learning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•  </a:t>
            </a:r>
            <a:r>
              <a:rPr lang="en-US" sz="1300" b="1" kern="0" spc="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Hardware &amp; On-Device Classification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42B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MQ-135 Gas Sensor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— A0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ADC gas concentration reading (0–1023); primary driver of Air Quality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42B4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523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DHT11 Sensor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75234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— D4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11810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temperature (°C) and relative humidity (%)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0448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42B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959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LDR Module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399592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— D5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3616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state, used as a proxy for room occupancy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42B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395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ESP8266 NodeMCU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23951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MCU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60527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every 10 s; pushes data to Blynk + Google Sheets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142B4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Quality Classification Rule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1993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on-device from the MQ-135 raw ADC reading: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2423160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 w="9525">
            <a:solidFill>
              <a:srgbClr val="0E5C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300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5256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3081528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 w="9525">
            <a:solidFill>
              <a:srgbClr val="0E5C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– 599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52560" y="30815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3739896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 w="9525">
            <a:solidFill>
              <a:srgbClr val="0E5C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7398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600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52560" y="37398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453542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target used for training: the ML pipeline predicts this same 'Air quality' label from the logged sensor history.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37960" y="52669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Anomaly Flag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537960" y="56052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MQ-135 raw value &gt; 600  →  Anomaly = 1  (secondary, on-device safety flag alongside Air Quality)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Air Quality Monitoring  —  IoT + Machine Learning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4114800" cy="4114800"/>
          </a:xfrm>
          <a:prstGeom prst="ellipse">
            <a:avLst/>
          </a:prstGeom>
          <a:solidFill>
            <a:srgbClr val="0E5C6B">
              <a:alpha val="2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E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LIVE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Parameters on Blynk IoT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seconds, the NodeMCU writes seven parameters to Blynk virtual pins for live, remote monitoring.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0584" cy="10058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07568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ADC (MQ-135)  —  </a:t>
            </a: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analog gas reading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96896"/>
            <a:ext cx="100584" cy="10058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47802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 —  </a:t>
            </a: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DHT11, in °C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99232"/>
            <a:ext cx="100584" cy="10058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8803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 —  </a:t>
            </a: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DHT11, shown on radial gauge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100584" cy="10058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28269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State  —  </a:t>
            </a: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LDR output (0/1)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100584" cy="10058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68503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 —  </a:t>
            </a: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from light state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0584" cy="10058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08736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Class  —  </a:t>
            </a: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Moderate / Poor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08576"/>
            <a:ext cx="100584" cy="10058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48970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Event  —  </a:t>
            </a: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anomaly flag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83275" y="694944"/>
            <a:ext cx="4633514" cy="5614416"/>
          </a:xfrm>
          <a:prstGeom prst="roundRect">
            <a:avLst>
              <a:gd name="adj" fmla="val 2960"/>
            </a:avLst>
          </a:prstGeom>
          <a:solidFill>
            <a:srgbClr val="142B47"/>
          </a:solidFill>
          <a:ln w="19050">
            <a:solidFill>
              <a:srgbClr val="9FE870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Air Quality Monitoring — IoT + Deep Learning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901773C-44AA-4ED9-91A4-29FDD2E37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354" y="1010681"/>
            <a:ext cx="4035356" cy="50426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•  </a:t>
            </a:r>
            <a:r>
              <a:rPr lang="en-US" sz="1300" b="1" kern="0" spc="100" dirty="0">
                <a:solidFill>
                  <a:srgbClr val="0E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Logged Readings to an Air-Quality Training 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1,499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readings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0" y="137160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447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 used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137160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4447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/ 10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6384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vs. Moderate split (%)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Input Features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5303520" cy="230428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 (°C)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DHT11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Humidity (%)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DHT11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MQ-135 raw 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MQ-135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 State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LDR module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(encoded)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(encoded)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2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5257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label — Air quality  (Moderate = 0, Poor = 1 as observed in this logged set)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30632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20840" y="303580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CSV of logged sensor readings into pandas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63640" y="35204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3520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20840" y="349300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Timestamp → separate Date &amp; Time features (label-encoded)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39776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3977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20840" y="395020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non-predictive / redundant columns (e.g. Occupancy Status)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63640" y="44348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626364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720840" y="440740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Label-encoded the target — Air quality (Moderate / Poor)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263640" y="48920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7"/>
          <p:cNvSpPr/>
          <p:nvPr/>
        </p:nvSpPr>
        <p:spPr>
          <a:xfrm>
            <a:off x="6263640" y="4892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720840" y="486460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numeric features with StandardScaler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263640" y="53492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0"/>
          <p:cNvSpPr/>
          <p:nvPr/>
        </p:nvSpPr>
        <p:spPr>
          <a:xfrm>
            <a:off x="6263640" y="5349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720840" y="532180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80 / 20 train–test split for the Air quality target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Air Quality Monitoring  —  IoT + Machine Learning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•  </a:t>
            </a:r>
            <a:r>
              <a:rPr lang="en-US" sz="1300" b="1" kern="0" spc="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Classifiers Trained to Predict Air Quality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is trained on the same 6-feature, scaled dataset and stratified 80/20 split — 1,199 training samples, 300 test samples.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42B4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109728" cy="457200"/>
          </a:xfrm>
          <a:prstGeom prst="roundRect">
            <a:avLst/>
          </a:prstGeom>
          <a:solidFill>
            <a:srgbClr val="9FE87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LogisticRegression, max_iter = 1000. A linear baseline classifier on the scaled features.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8745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42B47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148840"/>
            <a:ext cx="109728" cy="457200"/>
          </a:xfrm>
          <a:prstGeom prst="roundRect">
            <a:avLst/>
          </a:prstGeom>
          <a:solidFill>
            <a:srgbClr val="9FE87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Neural Network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 Sequential: Dense(64, ReLU) → Dense(32, ReLU) → Dense(2, Softmax). Adam optimizer, sparse categorical cross-entropy, 50 epochs, batch size 32, 10% validation split.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42B47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526280"/>
            <a:ext cx="109728" cy="457200"/>
          </a:xfrm>
          <a:prstGeom prst="roundRect">
            <a:avLst/>
          </a:prstGeom>
          <a:solidFill>
            <a:srgbClr val="9FE87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480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RandomForestClassifier with default ensemble settings — captures non-linear feature interactions.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425196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42B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4526280"/>
            <a:ext cx="109728" cy="457200"/>
          </a:xfrm>
          <a:prstGeom prst="roundRect">
            <a:avLst/>
          </a:prstGeom>
          <a:solidFill>
            <a:srgbClr val="9FE870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480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51206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KNeighborsClassifier, default k = 5 — distance-based classification on standardized features.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Air Quality Monitoring  —  IoT + Machine Learning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•  </a:t>
            </a:r>
            <a:r>
              <a:rPr lang="en-US" sz="1300" b="1" kern="0" spc="100" dirty="0">
                <a:solidFill>
                  <a:srgbClr val="0E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TRAINING BEHAVIOUR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&amp; Loss Across 50 Training Epochs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training and validation curves converge rapidly, indicating fast, stable learning on the Air Quality classification task.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  <a:effectLst>
            <a:outerShdw blurRad="101600" dist="38100" dir="5400000" algn="bl" rotWithShape="0">
              <a:srgbClr val="44546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202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 vs. Epochs</a:t>
            </a:r>
            <a:endParaRPr lang="en-US" sz="1300" dirty="0"/>
          </a:p>
        </p:txBody>
      </p:sp>
      <p:pic>
        <p:nvPicPr>
          <p:cNvPr id="7" name="Image 0" descr="assets/ann_accurac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498348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  <a:effectLst>
            <a:outerShdw blurRad="101600" dist="38100" dir="5400000" algn="bl" rotWithShape="0">
              <a:srgbClr val="44546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9202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Loss vs. Epochs</a:t>
            </a:r>
            <a:endParaRPr lang="en-US" sz="1300" dirty="0"/>
          </a:p>
        </p:txBody>
      </p:sp>
      <p:pic>
        <p:nvPicPr>
          <p:cNvPr id="10" name="Image 1" descr="assets/ann_lo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286000"/>
            <a:ext cx="4983480" cy="338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053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 training and validation accuracy both reach 1.0 within the first few epochs, and loss converges to near zero — consistent with the strong class separability seen across all four models.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Air Quality Monitoring  —  IoT + Machine Learning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•  </a:t>
            </a:r>
            <a:r>
              <a:rPr lang="en-US" sz="1300" b="1" kern="0" spc="100" dirty="0">
                <a:solidFill>
                  <a:srgbClr val="0E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Matrices — Moderate vs. Poor Air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300-sample test set (30 Moderate · 270 Poor), evaluated identically across all four classifiers.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47360" cy="42519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10740" y="1613823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00" dirty="0"/>
          </a:p>
        </p:txBody>
      </p:sp>
      <p:pic>
        <p:nvPicPr>
          <p:cNvPr id="7" name="Image 0" descr="assets/cm_logr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838" y="2020824"/>
            <a:ext cx="3922964" cy="38646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8129" y="1669806"/>
            <a:ext cx="5285231" cy="42519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10704" y="1660475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Neural Network</a:t>
            </a:r>
            <a:endParaRPr lang="en-US" sz="1100" dirty="0"/>
          </a:p>
        </p:txBody>
      </p:sp>
      <p:pic>
        <p:nvPicPr>
          <p:cNvPr id="10" name="Image 1" descr="assets/ann_cm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119" y="2030613"/>
            <a:ext cx="4281259" cy="378357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Air Quality Monitoring  —  IoT + Machine Learning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2E404-398D-798D-750B-8B2025B9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89C1B7-4707-8578-5388-711DA0242F67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•  </a:t>
            </a:r>
            <a:r>
              <a:rPr lang="en-US" sz="1300" b="1" kern="0" spc="100" dirty="0">
                <a:solidFill>
                  <a:srgbClr val="0E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1752AC-79A8-4FBB-FFD6-69949048D75E}"/>
              </a:ext>
            </a:extLst>
          </p:cNvPr>
          <p:cNvSpPr/>
          <p:nvPr/>
        </p:nvSpPr>
        <p:spPr>
          <a:xfrm>
            <a:off x="54864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Matrices — Moderate vs. Poor Air Quality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863E4B-DD2C-0085-D2BA-74BD6DFDA771}"/>
              </a:ext>
            </a:extLst>
          </p:cNvPr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300-sample test set (30 Moderate · 270 Poor), evaluated identically across all four classifiers.</a:t>
            </a:r>
            <a:endParaRPr lang="en-US" sz="12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06630F9-6A1D-5464-3EA0-45D58617176D}"/>
              </a:ext>
            </a:extLst>
          </p:cNvPr>
          <p:cNvSpPr/>
          <p:nvPr/>
        </p:nvSpPr>
        <p:spPr>
          <a:xfrm>
            <a:off x="230278" y="1691640"/>
            <a:ext cx="5676745" cy="42519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15FFE6D-1F6A-7A24-040F-902719263E14}"/>
              </a:ext>
            </a:extLst>
          </p:cNvPr>
          <p:cNvSpPr/>
          <p:nvPr/>
        </p:nvSpPr>
        <p:spPr>
          <a:xfrm>
            <a:off x="1730642" y="16276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pic>
        <p:nvPicPr>
          <p:cNvPr id="13" name="Image 2" descr="assets/cm_rf.jpg">
            <a:extLst>
              <a:ext uri="{FF2B5EF4-FFF2-40B4-BE49-F238E27FC236}">
                <a16:creationId xmlns:a16="http://schemas.microsoft.com/office/drawing/2014/main" id="{2DAA73D3-13BD-EAD4-B500-0A43A9B4F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72" y="1956816"/>
            <a:ext cx="4012755" cy="3912140"/>
          </a:xfrm>
          <a:prstGeom prst="rect">
            <a:avLst/>
          </a:prstGeom>
        </p:spPr>
      </p:pic>
      <p:sp>
        <p:nvSpPr>
          <p:cNvPr id="14" name="Shape 9">
            <a:extLst>
              <a:ext uri="{FF2B5EF4-FFF2-40B4-BE49-F238E27FC236}">
                <a16:creationId xmlns:a16="http://schemas.microsoft.com/office/drawing/2014/main" id="{DC0FCB98-B53E-17EB-4F5E-052FA231E812}"/>
              </a:ext>
            </a:extLst>
          </p:cNvPr>
          <p:cNvSpPr/>
          <p:nvPr/>
        </p:nvSpPr>
        <p:spPr>
          <a:xfrm>
            <a:off x="6284979" y="1691640"/>
            <a:ext cx="5181597" cy="42519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F0329DC-0209-D16D-12F5-360D66DF974B}"/>
              </a:ext>
            </a:extLst>
          </p:cNvPr>
          <p:cNvSpPr/>
          <p:nvPr/>
        </p:nvSpPr>
        <p:spPr>
          <a:xfrm>
            <a:off x="7664197" y="16276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endParaRPr lang="en-US" sz="1100" dirty="0"/>
          </a:p>
        </p:txBody>
      </p:sp>
      <p:pic>
        <p:nvPicPr>
          <p:cNvPr id="16" name="Image 3" descr="assets/cm_knn.jpg">
            <a:extLst>
              <a:ext uri="{FF2B5EF4-FFF2-40B4-BE49-F238E27FC236}">
                <a16:creationId xmlns:a16="http://schemas.microsoft.com/office/drawing/2014/main" id="{B87B70A6-5CC6-B7B3-1CB0-1533BB175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270" y="1991697"/>
            <a:ext cx="4121969" cy="3951903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175E5B12-E33E-DB2E-D9C1-36D2BBD70A6F}"/>
              </a:ext>
            </a:extLst>
          </p:cNvPr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Air Quality Monitoring  —  IoT + Machine Learning</a:t>
            </a:r>
            <a:endParaRPr lang="en-US" sz="9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64D60C6-C841-FEB3-4AFA-ECF1F919EA7D}"/>
              </a:ext>
            </a:extLst>
          </p:cNvPr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46605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•  </a:t>
            </a:r>
            <a:r>
              <a:rPr lang="en-US" sz="1300" b="1" kern="0" spc="1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Models Perfectly Separate Air Quality Classes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computed with scikit-learn's accuracy_score, precision_score (weighted) and f1_score (weighted) on the 300-sample test set.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81223"/>
              </p:ext>
            </p:extLst>
          </p:nvPr>
        </p:nvGraphicFramePr>
        <p:xfrm>
          <a:off x="548640" y="1874520"/>
          <a:ext cx="694944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Score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Artificial Neural Network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K-Nearest Neighbors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26766"/>
            <a:ext cx="1784013" cy="2985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results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434340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scores reflect a small, controlled test setup and a strongly imbalanced dataset (90% Poor readings, captured mostly in one elevated-MQ-135 environment). Results show clean class separability on this data, but broader field testing and a more balanced dataset are recommended before deployment.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1874520"/>
            <a:ext cx="3840480" cy="3749040"/>
          </a:xfrm>
          <a:prstGeom prst="roundRect">
            <a:avLst>
              <a:gd name="adj" fmla="val 1951"/>
            </a:avLst>
          </a:prstGeom>
          <a:solidFill>
            <a:srgbClr val="142B47"/>
          </a:solidFill>
          <a:ln/>
        </p:spPr>
      </p:sp>
      <p:sp>
        <p:nvSpPr>
          <p:cNvPr id="5" name="Text 6"/>
          <p:cNvSpPr/>
          <p:nvPr/>
        </p:nvSpPr>
        <p:spPr>
          <a:xfrm>
            <a:off x="804672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Output (Colab)</a:t>
            </a:r>
            <a:endParaRPr lang="en-US" sz="1100" dirty="0"/>
          </a:p>
        </p:txBody>
      </p:sp>
      <p:pic>
        <p:nvPicPr>
          <p:cNvPr id="10" name="Image 0" descr="assets/comparison_ta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423160"/>
            <a:ext cx="3383280" cy="12070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0" y="3794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Support: 30 Moderate + 270 Poor = 300 test samples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Air Quality Monitoring  —  IoT + Machine Learning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•  </a:t>
            </a:r>
            <a:r>
              <a:rPr lang="en-US" sz="1300" b="1" kern="0" spc="100" dirty="0">
                <a:solidFill>
                  <a:srgbClr val="0E5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achieved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128016" cy="128016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1284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built: embedded sensing → live Blynk dashboard → CSV logging → multi-model training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246120"/>
            <a:ext cx="128016" cy="128016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12724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sensor stack (MQ-135, DHT11, LDR) reliably distinguishes Good / Moderate / Poor air quality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160520"/>
            <a:ext cx="128016" cy="128016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4164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— Logistic Regression, ANN, Random Forest, KNN — each achieved 1.0 accuracy, precision and F1 on Air Quality classification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2331720"/>
            <a:ext cx="128016" cy="128016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21284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data across more environments to reduce class imbalance and add 'Good' air-quality examples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227832"/>
            <a:ext cx="128016" cy="128016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1089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MQ-135 to real PPM values instead of raw ADC thresholds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4123944"/>
            <a:ext cx="128016" cy="128016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00507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Cross-validate models on a larger, more balanced dataset to stress-test the perfect scores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5020056"/>
            <a:ext cx="128016" cy="128016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9011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best-performing model on-device (TinyML) for real-time inference without the cloud round-trip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Air Quality Monitoring  —  IoT + Machine Learning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1245</Words>
  <Application>Microsoft Office PowerPoint</Application>
  <PresentationFormat>Widescreen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Bishnujyoti Gogoi</cp:lastModifiedBy>
  <cp:revision>5</cp:revision>
  <dcterms:created xsi:type="dcterms:W3CDTF">2026-07-23T02:59:55Z</dcterms:created>
  <dcterms:modified xsi:type="dcterms:W3CDTF">2026-07-23T04:04:07Z</dcterms:modified>
</cp:coreProperties>
</file>